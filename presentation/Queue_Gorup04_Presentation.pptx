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E770D5-589E-4EE1-B2D2-F5E6003F7F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BFEDB2-34C0-421A-B911-C6D4153EF8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CBB6FC-7A56-4CD4-BF0C-1BE7707283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4789C9-F2F3-4EF8-B202-4F37597FBB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492813-BF08-4F37-9A9D-7DF82D016C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81BD35-702A-4A35-BC26-486C2424F4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977518-A0AF-4665-96BF-9DE4D8F28E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CC36BA-5B09-4F28-918D-1B9FC6F246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C4063E-E5E3-49D3-916F-7ABF8D8E73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B78CD2-8090-45E1-916D-0E88918686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074847-BE3F-4EBA-97FF-212504350C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48640" y="502920"/>
            <a:ext cx="7772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GROUP 04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48640" y="9601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CPU Process Scheduling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48640" y="14173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Queue • FCFS • Round Robin • Java • Algorithm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548640" y="192024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โจทย์หลัก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จัดสรร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CPU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ให้หลาย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เปรียบเทียบ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2 Algorithms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วิเคราะห์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Waiting / Turnaround / Context Switch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7"/>
          <p:cNvSpPr/>
          <p:nvPr/>
        </p:nvSpPr>
        <p:spPr>
          <a:xfrm>
            <a:off x="4343400" y="192024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Algorithm 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FCFS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ใช้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แบบ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FIFO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มาก่อนทำก่อน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8"/>
          <p:cNvSpPr/>
          <p:nvPr/>
        </p:nvSpPr>
        <p:spPr>
          <a:xfrm>
            <a:off x="8138160" y="1920240"/>
            <a:ext cx="3520080" cy="150840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Algorithm 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Round Robin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ใช้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Circular Queue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Time Quantum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594360" y="379476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สมาชิก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594360" y="4160520"/>
            <a:ext cx="109724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นาย ธนากร สุธากมลรัตน์ </a:t>
            </a: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68122250016</a:t>
            </a:r>
            <a:br>
              <a:rPr sz="1150"/>
            </a:br>
            <a:r>
              <a:rPr lang="hi-IN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นาย ศุภณัฐ บุญรักษา </a:t>
            </a: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68122250043</a:t>
            </a:r>
            <a:br>
              <a:rPr sz="1150"/>
            </a:br>
            <a:r>
              <a:rPr lang="hi-IN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นาย นันทสิทธิ์ ป้องภัย </a:t>
            </a: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68122250021</a:t>
            </a:r>
            <a:br>
              <a:rPr sz="1150"/>
            </a:br>
            <a:r>
              <a:rPr lang="hi-IN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นาย ชินวัฒน์ พลจันทร์ </a:t>
            </a: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68122250061</a:t>
            </a:r>
            <a:br>
              <a:rPr sz="1150"/>
            </a:br>
            <a:r>
              <a:rPr lang="hi-IN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นาย มหิทธิกรณ์ สุดมี </a:t>
            </a: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68122250074</a:t>
            </a:r>
            <a:br>
              <a:rPr sz="1150"/>
            </a:br>
            <a:r>
              <a:rPr lang="hi-IN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นาย ทัศนัย </a:t>
            </a: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68122250087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1"/>
          <p:cNvSpPr/>
          <p:nvPr/>
        </p:nvSpPr>
        <p:spPr>
          <a:xfrm>
            <a:off x="594360" y="5532120"/>
            <a:ext cx="10972440" cy="68544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สมมติฐานโจทย์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Arrival Time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ของชุดข้อมูลบังคับไม่ได้ระบุ → ใช้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P1–P4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มาถึงเวลา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0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และเข้าคิวตามลำดับ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2. Case Story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ระบบจัดตารางงานให้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CPU </a:t>
            </a: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โดยให้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หลายตัวใช้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CPU </a:t>
            </a: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ร่วมกัน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548640" y="1188720"/>
            <a:ext cx="5394600" cy="146268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Case Story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Operating System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ต้องจัด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CPU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ให้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หลายตัว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เป้าหมายคือจัดลำดับการทำงานและวัดประสิทธิภาพของวิธีจัดคิว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6"/>
          <p:cNvSpPr/>
          <p:nvPr/>
        </p:nvSpPr>
        <p:spPr>
          <a:xfrm>
            <a:off x="6217920" y="1188720"/>
            <a:ext cx="5394600" cy="146268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โจทย์บังคับ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P1 Burst=8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P2 Burst=4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P3 Burst=9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P4 Burst=5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Time Quantum=3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7"/>
          <p:cNvSpPr/>
          <p:nvPr/>
        </p:nvSpPr>
        <p:spPr>
          <a:xfrm>
            <a:off x="548640" y="2971800"/>
            <a:ext cx="11063880" cy="109692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สิ่งที่ต้องวัด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Waiting Time • Turnaround Time • Context Switch •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ลำดับการทำงาน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731520" y="4434840"/>
            <a:ext cx="107895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FCFS: Process </a:t>
            </a:r>
            <a:r>
              <a:rPr lang="hi-IN" sz="14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ด้านหน้ารันจนเสร็จ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Round Robin: </a:t>
            </a:r>
            <a:r>
              <a:rPr lang="hi-IN" sz="14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รันไม่เกิน </a:t>
            </a:r>
            <a:r>
              <a:rPr lang="en-US" sz="14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3 </a:t>
            </a:r>
            <a:r>
              <a:rPr lang="hi-IN" sz="14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หน่วยเวลา แล้วถ้ายังไม่เสร็จส่งกลับท้าย </a:t>
            </a:r>
            <a:r>
              <a:rPr lang="en-US" sz="14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ทั้งสองวิธีต้องให้ผลการจัดตารางที่ตรวจสอบได้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3. Input, Output </a:t>
            </a:r>
            <a:r>
              <a:rPr lang="hi-IN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Constraints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ขอบเขตของ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Group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5"/>
          <p:cNvSpPr/>
          <p:nvPr/>
        </p:nvSpPr>
        <p:spPr>
          <a:xfrm>
            <a:off x="54864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Input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ID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Arrival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Burst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Remaining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Time Quantum =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6"/>
          <p:cNvSpPr/>
          <p:nvPr/>
        </p:nvSpPr>
        <p:spPr>
          <a:xfrm>
            <a:off x="434340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Output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CPU Execution Order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Waiting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Turnaround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Context Switch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Average values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7"/>
          <p:cNvSpPr/>
          <p:nvPr/>
        </p:nvSpPr>
        <p:spPr>
          <a:xfrm>
            <a:off x="813816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Queue Rules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FCFS = FIFO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RR = Queue Rotation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ที่ยังไม่เสร็จ → ท้าย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8"/>
          <p:cNvSpPr/>
          <p:nvPr/>
        </p:nvSpPr>
        <p:spPr>
          <a:xfrm>
            <a:off x="548640" y="3337560"/>
            <a:ext cx="11063880" cy="123408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Edge / Test Cases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Normal • Empty Queue • Single Item • Large Queue • Edge Case • Cancel Case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9"/>
          <p:cNvSpPr/>
          <p:nvPr/>
        </p:nvSpPr>
        <p:spPr>
          <a:xfrm>
            <a:off x="548640" y="4800600"/>
            <a:ext cx="11063880" cy="91404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Assumption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ชุดข้อมูลบังคับไม่ระบุ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Arrival Time →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กำหนดทุก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มาที่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0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และเข้าคิว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P1,P2,P3,P4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ตาม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README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ของกลุ่ม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4. Algorithm A — FCFS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แนวคิดหลัก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: First Come First Served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54864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โครงสร้าง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FIFO Queue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ด้านหน้า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= 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ถัดไป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DEQUEUE → CPU →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รันจนจบ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434340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PROCESS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1)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เรียงตาม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Arrival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2)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นำตัวด้านหน้าออก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3)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รันจนเสร็จ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4)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บันทึก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Completion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7"/>
          <p:cNvSpPr/>
          <p:nvPr/>
        </p:nvSpPr>
        <p:spPr>
          <a:xfrm>
            <a:off x="813816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OUTPUT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ลำดับ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P1 → P2 → P3 → P4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Waiting Avg = 10.25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Turnaround Avg = 16.75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8"/>
          <p:cNvSpPr/>
          <p:nvPr/>
        </p:nvSpPr>
        <p:spPr>
          <a:xfrm>
            <a:off x="685800" y="33832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ข้อดี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/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ข้อจำกัด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731520" y="3794760"/>
            <a:ext cx="5120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Logic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ตรงไปตรงมา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Overhead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ต่ำ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Process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ยาวด้านหน้าอาจทำให้ตัวถัดไปรอนาน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6126480" y="3794760"/>
            <a:ext cx="5120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ถ้า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input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ยังไม่เรียง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Arrival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ต้อง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sort → O(n log n)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เมื่อ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input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เรียงแล้ว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traversal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เป็น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O(n)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5. Algorithm B — Round Robin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แนวคิดหลัก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: </a:t>
            </a: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แบ่ง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CPU </a:t>
            </a: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เป็น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Time Slice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5"/>
          <p:cNvSpPr/>
          <p:nvPr/>
        </p:nvSpPr>
        <p:spPr>
          <a:xfrm>
            <a:off x="54864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Operator / Queue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Circular Queue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ด้านหน้าได้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CPU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ยังไม่จบ → ไปท้าย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6"/>
          <p:cNvSpPr/>
          <p:nvPr/>
        </p:nvSpPr>
        <p:spPr>
          <a:xfrm>
            <a:off x="434340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การทำงาน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1) DEQUEUE 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2) run = min(3, remaining)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3)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ลด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Remaining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4)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ถ้ายังเหลือ →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ENQUEUE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ท้ายคิว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7"/>
          <p:cNvSpPr/>
          <p:nvPr/>
        </p:nvSpPr>
        <p:spPr>
          <a:xfrm>
            <a:off x="8138160" y="1188720"/>
            <a:ext cx="3474360" cy="182844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OUTPUT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ลำดับช่วงเวลา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10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ช่วง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Waiting Avg = 15.00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Turnaround Avg = 21.50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Context Switch = 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685800" y="338328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แนวคิดสำคัญ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731520" y="3794760"/>
            <a:ext cx="10972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Remaining Time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ใช้บอกเวลาที่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ยังต้องใช้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CPU</a:t>
            </a:r>
            <a:br>
              <a:rPr sz="1350"/>
            </a:b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เมื่อใช้เวลาไม่หมดและยังทำงานไม่เสร็จ → ส่ง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กลับท้าย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</a:t>
            </a:r>
            <a:br>
              <a:rPr sz="1350"/>
            </a:b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การหมุน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ทำให้แต่ละ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ได้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CPU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เป็นช่วง ๆ ตาม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Time Quantum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6. Queue Trace — Round Robin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q=3 • </a:t>
            </a: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แสดง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10 Operations </a:t>
            </a: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ตาม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requirement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2" name="Table 5"/>
          <p:cNvGraphicFramePr/>
          <p:nvPr/>
        </p:nvGraphicFramePr>
        <p:xfrm>
          <a:off x="411480" y="1143000"/>
          <a:ext cx="11338200" cy="4480200"/>
        </p:xfrm>
        <a:graphic>
          <a:graphicData uri="http://schemas.openxmlformats.org/drawingml/2006/table">
            <a:tbl>
              <a:tblPr/>
              <a:tblGrid>
                <a:gridCol w="1889640"/>
                <a:gridCol w="1889640"/>
                <a:gridCol w="1889640"/>
                <a:gridCol w="1889640"/>
                <a:gridCol w="1889640"/>
                <a:gridCol w="1889640"/>
              </a:tblGrid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#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Time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Operation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Queue Before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CPU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Queue After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0-3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P1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[P1,P2,P3,P4]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P1 (3)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[P2,P3,P4,P1]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2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3-6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P2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[P2,P3,P4,P1]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P2 (3)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[P3,P4,P1,P2]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3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6-9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P3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[P3,P4,P1,P2]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P3 (3)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[P4,P1,P2,P3]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4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9-12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P4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[P4,P1,P2,P3]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P4 (3)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[P1,P2,P3,P4]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5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12-15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P1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[P1,P2,P3,P4]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P1 (3)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[P2,P3,P4,P1]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6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15-16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P2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[P2,P3,P4,P1]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P2 (1)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[P3,P4,P1]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7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16-19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P3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[P3,P4,P1]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P3 (3)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[P4,P1,P3]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8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19-21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P4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[P4,P1,P3]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P4 (2)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[P1,P3]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9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21-23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P1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[P1,P3]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P1 (2)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[P3]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10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23-26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 P3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[P3]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P3 (3)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2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[]</a:t>
                      </a:r>
                      <a:endParaRPr lang="en-US" sz="92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Rounded Rectangle 6"/>
          <p:cNvSpPr/>
          <p:nvPr/>
        </p:nvSpPr>
        <p:spPr>
          <a:xfrm>
            <a:off x="548640" y="5715000"/>
            <a:ext cx="3520080" cy="59400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กฎ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ถ้ายังไม่จบ → ท้าย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7"/>
          <p:cNvSpPr/>
          <p:nvPr/>
        </p:nvSpPr>
        <p:spPr>
          <a:xfrm>
            <a:off x="4343400" y="5715000"/>
            <a:ext cx="3520080" cy="59400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จบ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remaining = 0 →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ไม่กลับ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8"/>
          <p:cNvSpPr/>
          <p:nvPr/>
        </p:nvSpPr>
        <p:spPr>
          <a:xfrm>
            <a:off x="8138160" y="5715000"/>
            <a:ext cx="3520080" cy="59400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ผล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P3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จบที่เวลา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26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7. Correctness / Invariant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Precondition • Invariant • Postcondition • Termination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5"/>
          <p:cNvSpPr/>
          <p:nvPr/>
        </p:nvSpPr>
        <p:spPr>
          <a:xfrm>
            <a:off x="548640" y="1234440"/>
            <a:ext cx="5303160" cy="123408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Precondition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มีรายการ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และค่า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Quantum &gt;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6"/>
          <p:cNvSpPr/>
          <p:nvPr/>
        </p:nvSpPr>
        <p:spPr>
          <a:xfrm>
            <a:off x="6263640" y="1234440"/>
            <a:ext cx="5303160" cy="123408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Invariant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ด้านหน้า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เป็น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ถัดไปตามกฎของ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Algorithm; RR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ไม่ทำ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ที่ยังไม่จบหายไป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7"/>
          <p:cNvSpPr/>
          <p:nvPr/>
        </p:nvSpPr>
        <p:spPr>
          <a:xfrm>
            <a:off x="548640" y="2788920"/>
            <a:ext cx="5303160" cy="123408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Postcondition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ทุก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ได้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Completion Time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และคำนวณ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Waiting / Turnaround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ได้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8"/>
          <p:cNvSpPr/>
          <p:nvPr/>
        </p:nvSpPr>
        <p:spPr>
          <a:xfrm>
            <a:off x="6263640" y="2788920"/>
            <a:ext cx="5303160" cy="123408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Termination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FCFS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จบเมื่อทุก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เสร็จ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; RR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จบเมื่อไม่มี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เหลือใน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และไม่มี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รอเข้า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640080" y="443484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ทำไมถูกต้อง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731520" y="4800600"/>
            <a:ext cx="109724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FCFS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รักษา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FIFO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และรันตัวที่ถูกเลือกจนจบ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RR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หมุน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ที่ยังไม่จบกลับท้าย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จึงไม่ข้าม </a:t>
            </a: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เดิมแบบถาวรภายใต้เงื่อนไขพื้นฐานของโจทย์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8. Big-O Analysis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วิเคราะห์ความซับซ้อนของโครงสร้างและขั้นตอนการจัดตาราง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0" name="Table 5"/>
          <p:cNvGraphicFramePr/>
          <p:nvPr/>
        </p:nvGraphicFramePr>
        <p:xfrm>
          <a:off x="502920" y="1188720"/>
          <a:ext cx="11155320" cy="2651400"/>
        </p:xfrm>
        <a:graphic>
          <a:graphicData uri="http://schemas.openxmlformats.org/drawingml/2006/table">
            <a:tbl>
              <a:tblPr/>
              <a:tblGrid>
                <a:gridCol w="3718440"/>
                <a:gridCol w="3718440"/>
                <a:gridCol w="3718440"/>
              </a:tblGrid>
              <a:tr h="331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hi-I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หัวข้อ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Complexity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hi-I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เหตุผล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</a:tr>
              <a:tr h="331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enqueue()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O(1) amortized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เพิ่มด้านท้าย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dequeue()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O(1)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เอาด้านหน้าออก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peek()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O(1)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ดูด้านหน้า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search()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O(n)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ต้องตรวจสมาชิก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display()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O(n)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แสดงสมาชิกทุกตัว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FCFS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O(n log n) / O(n)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sort Arrival / </a:t>
                      </a: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หรือ </a:t>
                      </a: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traversal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12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Round Robin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O(k)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k = </a:t>
                      </a: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จำนวน </a:t>
                      </a: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time slices / turns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Rounded Rectangle 6"/>
          <p:cNvSpPr/>
          <p:nvPr/>
        </p:nvSpPr>
        <p:spPr>
          <a:xfrm>
            <a:off x="548640" y="4160520"/>
            <a:ext cx="5348880" cy="118836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Space Complexity</a:t>
            </a:r>
            <a:br>
              <a:rPr sz="1500"/>
            </a:b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โดยรวม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O(n)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จากรายการ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Queue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ที่ใช้จัดเก็บข้อมูล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7"/>
          <p:cNvSpPr/>
          <p:nvPr/>
        </p:nvSpPr>
        <p:spPr>
          <a:xfrm>
            <a:off x="6217920" y="4160520"/>
            <a:ext cx="5348880" cy="118836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Round Robin</a:t>
            </a:r>
            <a:br>
              <a:rPr sz="1500"/>
            </a:b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จำนวนรอบขึ้นกับจำนวน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time slices (k)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Time Quantum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9. Class Diagram </a:t>
            </a:r>
            <a:r>
              <a:rPr lang="hi-IN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Java Implementation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โครงสร้างจาก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GitHub main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5"/>
          <p:cNvSpPr/>
          <p:nvPr/>
        </p:nvSpPr>
        <p:spPr>
          <a:xfrm>
            <a:off x="502920" y="1234440"/>
            <a:ext cx="2011320" cy="105120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Main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main()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รัน </a:t>
            </a: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A/B + Tests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6"/>
          <p:cNvSpPr/>
          <p:nvPr/>
        </p:nvSpPr>
        <p:spPr>
          <a:xfrm>
            <a:off x="2743200" y="1234440"/>
            <a:ext cx="2102760" cy="123408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Process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arrivalTime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burstTime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remainingTime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7"/>
          <p:cNvSpPr/>
          <p:nvPr/>
        </p:nvSpPr>
        <p:spPr>
          <a:xfrm>
            <a:off x="5074920" y="123444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QueueScheduler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fcfs()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roundRobin()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buildResult()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8"/>
          <p:cNvSpPr/>
          <p:nvPr/>
        </p:nvSpPr>
        <p:spPr>
          <a:xfrm>
            <a:off x="7635240" y="1234440"/>
            <a:ext cx="1828440" cy="105120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QueueOperations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cancel()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9"/>
          <p:cNvSpPr/>
          <p:nvPr/>
        </p:nvSpPr>
        <p:spPr>
          <a:xfrm>
            <a:off x="9692640" y="1234440"/>
            <a:ext cx="1965600" cy="105120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Experiment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n=100...50000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warm-up + 5 rounds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0"/>
          <p:cNvSpPr/>
          <p:nvPr/>
        </p:nvSpPr>
        <p:spPr>
          <a:xfrm>
            <a:off x="27432000" y="27432000"/>
            <a:ext cx="2102760" cy="105120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Validation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hi-IN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ตรวจผลสำคัญ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FCFS / RR / Cancel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640080" y="438912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การทำงานใน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Java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2"/>
          <p:cNvSpPr/>
          <p:nvPr/>
        </p:nvSpPr>
        <p:spPr>
          <a:xfrm>
            <a:off x="731520" y="475488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Round Robin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ใช้ </a:t>
            </a: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Deque&lt;Process&gt;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เป็น </a:t>
            </a: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Queue</a:t>
            </a:r>
            <a:br>
              <a:rPr sz="1320"/>
            </a:b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removeFirst()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นำ </a:t>
            </a: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ด้านหน้าออก </a:t>
            </a: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/ addLast()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นำ </a:t>
            </a: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Process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ไปต่อท้าย</a:t>
            </a:r>
            <a:br>
              <a:rPr sz="1320"/>
            </a:b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</a:t>
            </a: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Experiment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ใช้ </a:t>
            </a: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System.nanoTime()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และเฉลี่ยเวลา </a:t>
            </a:r>
            <a:r>
              <a:rPr lang="en-US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5 </a:t>
            </a:r>
            <a:r>
              <a:rPr lang="hi-IN" sz="132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รอบ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10. Test Cases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ตัวอย่างกรณีทดสอบของโปรแกรม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5"/>
          <p:cNvGraphicFramePr/>
          <p:nvPr/>
        </p:nvGraphicFramePr>
        <p:xfrm>
          <a:off x="594360" y="1188720"/>
          <a:ext cx="10972440" cy="3337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76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ID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hi-IN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ประเภท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Input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Expected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</a:tr>
              <a:tr h="476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Normal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P1,P2,P3,P4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A/B </a:t>
                      </a: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คำนวณได้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Empty Queue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[]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ไม่ </a:t>
                      </a: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schedule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Single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P1=5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จบด้วย </a:t>
                      </a: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4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Large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100 Process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โปรแกรมยังรันได้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Edge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Burst </a:t>
                      </a: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เท่ากัน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รักษา </a:t>
                      </a: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queue order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Cancel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Cancel P2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hi-IN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เหลือ </a:t>
                      </a: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P1,P3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Rounded Rectangle 6"/>
          <p:cNvSpPr/>
          <p:nvPr/>
        </p:nvSpPr>
        <p:spPr>
          <a:xfrm>
            <a:off x="594360" y="4800600"/>
            <a:ext cx="5303160" cy="91404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FCFS</a:t>
            </a:r>
            <a:br>
              <a:rPr sz="1500"/>
            </a:b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P1 → P2 → P3 → P4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7"/>
          <p:cNvSpPr/>
          <p:nvPr/>
        </p:nvSpPr>
        <p:spPr>
          <a:xfrm>
            <a:off x="6172200" y="4800600"/>
            <a:ext cx="5303160" cy="91404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Round Robin</a:t>
            </a:r>
            <a:br>
              <a:rPr sz="1500"/>
            </a:b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P1 → P2 → P3 → P4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หมุนตาม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q =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11. Experimental Results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ผลการทดลองเวลาเฉลี่ยจากการรันโปรแกรม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6" name="Table 5"/>
          <p:cNvGraphicFramePr/>
          <p:nvPr/>
        </p:nvGraphicFramePr>
        <p:xfrm>
          <a:off x="685800" y="1234440"/>
          <a:ext cx="7314840" cy="2743200"/>
        </p:xfrm>
        <a:graphic>
          <a:graphicData uri="http://schemas.openxmlformats.org/drawingml/2006/table">
            <a:tbl>
              <a:tblPr/>
              <a:tblGrid>
                <a:gridCol w="2438280"/>
                <a:gridCol w="2438280"/>
                <a:gridCol w="243828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n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FCFS Avg Time (ns)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RR Avg Time (ns)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74B7A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137200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351540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1,000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845080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2238140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10,000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4467840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5923280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50,000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14320620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2D2D2D"/>
                          </a:solidFill>
                          <a:effectLst/>
                          <a:uFillTx/>
                          <a:latin typeface="TH Sarabun New"/>
                        </a:rPr>
                        <a:t>18095540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7" name="Rounded Rectangle 6"/>
          <p:cNvSpPr/>
          <p:nvPr/>
        </p:nvSpPr>
        <p:spPr>
          <a:xfrm>
            <a:off x="8229600" y="1234440"/>
            <a:ext cx="3245760" cy="114264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การวัดเวลา</a:t>
            </a:r>
            <a:br>
              <a:rPr sz="1500"/>
            </a:b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Warm-up = 3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รอบ</a:t>
            </a:r>
            <a:br>
              <a:rPr sz="1500"/>
            </a:b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วัดจริง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= 5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รอบ</a:t>
            </a:r>
            <a:br>
              <a:rPr sz="1500"/>
            </a:b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System.nanoTime()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7"/>
          <p:cNvSpPr/>
          <p:nvPr/>
        </p:nvSpPr>
        <p:spPr>
          <a:xfrm>
            <a:off x="8229600" y="2606040"/>
            <a:ext cx="3245760" cy="114264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ขนาดข้อมูล</a:t>
            </a:r>
            <a:br>
              <a:rPr sz="1500"/>
            </a:b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100  |  1,000  |  10,000  |  50,000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8"/>
          <p:cNvSpPr/>
          <p:nvPr/>
        </p:nvSpPr>
        <p:spPr>
          <a:xfrm>
            <a:off x="685800" y="4343400"/>
            <a:ext cx="10789560" cy="123408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ตารางแสดงค่าเวลาเฉลี่ยของ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FCFS </a:t>
            </a: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Round Robin</a:t>
            </a:r>
            <a:br>
              <a:rPr sz="1500"/>
            </a:b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หน่วย</a:t>
            </a: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: nanosecond (ns)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7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502920" y="320040"/>
            <a:ext cx="11155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12. </a:t>
            </a:r>
            <a:r>
              <a:rPr lang="hi-IN" sz="2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สรุปและวิธีที่กลุ่มเลือก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"/>
          <p:cNvSpPr/>
          <p:nvPr/>
        </p:nvSpPr>
        <p:spPr>
          <a:xfrm>
            <a:off x="530280" y="777240"/>
            <a:ext cx="1097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สรุปจากโค้ดและ </a:t>
            </a:r>
            <a:r>
              <a:rPr lang="en-US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scenario </a:t>
            </a:r>
            <a:r>
              <a:rPr lang="hi-IN" sz="12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บังคับ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4"/>
          <p:cNvSpPr/>
          <p:nvPr/>
        </p:nvSpPr>
        <p:spPr>
          <a:xfrm>
            <a:off x="502920" y="6510600"/>
            <a:ext cx="111553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งานปฏิบัติการกลุ่ม </a:t>
            </a:r>
            <a:r>
              <a:rPr lang="en-US" sz="900" b="0" u="none" strike="noStrike">
                <a:solidFill>
                  <a:srgbClr val="5F6973"/>
                </a:solidFill>
                <a:effectLst/>
                <a:uFillTx/>
                <a:latin typeface="TH Sarabun New"/>
              </a:rPr>
              <a:t>4 • CPU Process Scheduling • Queue / Algorithm  |  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5"/>
          <p:cNvSpPr/>
          <p:nvPr/>
        </p:nvSpPr>
        <p:spPr>
          <a:xfrm>
            <a:off x="548640" y="1234440"/>
            <a:ext cx="5348880" cy="182844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FCFS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FIFO Queue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Average Waiting = 10.25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Average Turnaround = 16.75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Context Switch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6"/>
          <p:cNvSpPr/>
          <p:nvPr/>
        </p:nvSpPr>
        <p:spPr>
          <a:xfrm>
            <a:off x="6217920" y="1234440"/>
            <a:ext cx="5348880" cy="1828440"/>
          </a:xfrm>
          <a:prstGeom prst="roundRect">
            <a:avLst>
              <a:gd name="adj" fmla="val 16667"/>
            </a:avLst>
          </a:prstGeom>
          <a:solidFill>
            <a:srgbClr val="ECF7F1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Round Robin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Circular Queue, q=3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Average Waiting = 15.00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Average Turnaround = 21.50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30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Context Switch = 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640080" y="342900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ข้อสรุปเชิงโครงสร้าง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8"/>
          <p:cNvSpPr/>
          <p:nvPr/>
        </p:nvSpPr>
        <p:spPr>
          <a:xfrm>
            <a:off x="731520" y="3840480"/>
            <a:ext cx="1078956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FCFS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ง่ายและเหมาะกับกรณีที่ต้องการ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FIFO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ตรงไปตรงมา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Round Robin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เหมาะกับการแบ่ง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CPU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แบบ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time-sharing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และต้องติดตาม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Remaining Time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• ทั้งสองใช้พื้นที่ระดับ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O(n); complexity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ของ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scheduling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ขึ้นกับการ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sort </a:t>
            </a:r>
            <a:r>
              <a:rPr lang="hi-IN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และจำนวน </a:t>
            </a:r>
            <a:r>
              <a:rPr lang="en-US" sz="1350" b="0" u="none" strike="noStrike">
                <a:solidFill>
                  <a:srgbClr val="2D2D2D"/>
                </a:solidFill>
                <a:effectLst/>
                <a:uFillTx/>
                <a:latin typeface="TH Sarabun New"/>
              </a:rPr>
              <a:t>time slices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9"/>
          <p:cNvSpPr/>
          <p:nvPr/>
        </p:nvSpPr>
        <p:spPr>
          <a:xfrm>
            <a:off x="640080" y="5486400"/>
            <a:ext cx="10789560" cy="639720"/>
          </a:xfrm>
          <a:prstGeom prst="roundRect">
            <a:avLst>
              <a:gd name="adj" fmla="val 16667"/>
            </a:avLst>
          </a:prstGeom>
          <a:solidFill>
            <a:srgbClr val="FDF5E4"/>
          </a:solidFill>
          <a:ln>
            <a:solidFill>
              <a:srgbClr val="D3DBE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91440" rIns="109800" bIns="73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hi-IN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ภาพรวม</a:t>
            </a:r>
            <a:br>
              <a:rPr sz="1300"/>
            </a:br>
            <a:r>
              <a:rPr lang="en-US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FCFS </a:t>
            </a:r>
            <a:r>
              <a:rPr lang="hi-IN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Round Robin </a:t>
            </a:r>
            <a:r>
              <a:rPr lang="hi-IN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ใช้ </a:t>
            </a:r>
            <a:r>
              <a:rPr lang="en-US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Queue </a:t>
            </a:r>
            <a:r>
              <a:rPr lang="hi-IN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เป็นโครงสร้างหลัก แต่มีรูปแบบการจัดสรร </a:t>
            </a:r>
            <a:r>
              <a:rPr lang="en-US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CPU </a:t>
            </a:r>
            <a:r>
              <a:rPr lang="hi-IN" sz="1300" b="1" u="none" strike="noStrike">
                <a:solidFill>
                  <a:srgbClr val="274B7A"/>
                </a:solidFill>
                <a:effectLst/>
                <a:uFillTx/>
                <a:latin typeface="TH Sarabun New"/>
              </a:rPr>
              <a:t>ต่างกัน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2026-09-23T22:20:18Z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